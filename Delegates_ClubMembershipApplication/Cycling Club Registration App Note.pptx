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82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80" r:id="rId13"/>
    <p:sldId id="281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6" r:id="rId23"/>
    <p:sldId id="275" r:id="rId24"/>
    <p:sldId id="277" r:id="rId25"/>
    <p:sldId id="274" r:id="rId26"/>
    <p:sldId id="279" r:id="rId27"/>
    <p:sldId id="278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BA6862B-9006-41A8-A5D2-85DF33C2D240}">
          <p14:sldIdLst>
            <p14:sldId id="256"/>
            <p14:sldId id="257"/>
            <p14:sldId id="259"/>
            <p14:sldId id="282"/>
          </p14:sldIdLst>
        </p14:section>
        <p14:section name="Data Related" id="{8C5090F2-836C-450B-9388-14352BBC54A6}">
          <p14:sldIdLst>
            <p14:sldId id="258"/>
            <p14:sldId id="260"/>
            <p14:sldId id="261"/>
            <p14:sldId id="262"/>
            <p14:sldId id="263"/>
            <p14:sldId id="264"/>
            <p14:sldId id="265"/>
            <p14:sldId id="280"/>
            <p14:sldId id="281"/>
          </p14:sldIdLst>
        </p14:section>
        <p14:section name="API" id="{F8AF0EA3-AE61-421F-80AF-1B2D9ECFBF10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View" id="{D12E45B8-E357-48CA-9126-97A8E0F946AC}">
          <p14:sldIdLst>
            <p14:sldId id="276"/>
            <p14:sldId id="275"/>
            <p14:sldId id="277"/>
            <p14:sldId id="274"/>
            <p14:sldId id="279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4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495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25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607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181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91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289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438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01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900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3575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94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935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1322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245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63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2F0BC-95FF-4EBB-823D-AD073BC23E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428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qlitebrowser.org/dl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97A5B-2C5C-1C2E-7001-4FD0011FD2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Cycling Club Registration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2E851F-1AE5-1B96-4877-03F978850D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Demo the usage of delegate</a:t>
            </a:r>
          </a:p>
        </p:txBody>
      </p:sp>
    </p:spTree>
    <p:extLst>
      <p:ext uri="{BB962C8B-B14F-4D97-AF65-F5344CB8AC3E}">
        <p14:creationId xmlns:p14="http://schemas.microsoft.com/office/powerpoint/2010/main" val="1107119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28A8B-0D35-5FBE-3B67-38326B990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5E042-A3A0-71E5-BFA1-D6D5C06E2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Demo code reuse</a:t>
            </a:r>
          </a:p>
          <a:p>
            <a:r>
              <a:rPr lang="en-US" dirty="0"/>
              <a:t>Demo design flexibility</a:t>
            </a:r>
          </a:p>
        </p:txBody>
      </p:sp>
    </p:spTree>
    <p:extLst>
      <p:ext uri="{BB962C8B-B14F-4D97-AF65-F5344CB8AC3E}">
        <p14:creationId xmlns:p14="http://schemas.microsoft.com/office/powerpoint/2010/main" val="419679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35952-3E03-C105-A7A1-EB58060A5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4448D5-CFD0-98FA-3730-14A6B1B86D9F}"/>
              </a:ext>
            </a:extLst>
          </p:cNvPr>
          <p:cNvSpPr txBox="1"/>
          <p:nvPr/>
        </p:nvSpPr>
        <p:spPr>
          <a:xfrm>
            <a:off x="1885081" y="6412524"/>
            <a:ext cx="7941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SQLite DB Browser Installer: </a:t>
            </a:r>
            <a:r>
              <a:rPr lang="en-US" dirty="0">
                <a:hlinkClick r:id="rId2"/>
              </a:rPr>
              <a:t>https://sqlitebrowser.org/dl/</a:t>
            </a:r>
            <a:endParaRPr lang="en-US" dirty="0"/>
          </a:p>
        </p:txBody>
      </p: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F72D4C9B-1C4A-A093-683B-2EA0D7BC9953}"/>
              </a:ext>
            </a:extLst>
          </p:cNvPr>
          <p:cNvSpPr/>
          <p:nvPr/>
        </p:nvSpPr>
        <p:spPr>
          <a:xfrm>
            <a:off x="10054141" y="1744819"/>
            <a:ext cx="1016949" cy="1280890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SQLite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7EED42E5-4ACB-9E43-51A8-EFCB99505B25}"/>
              </a:ext>
            </a:extLst>
          </p:cNvPr>
          <p:cNvSpPr/>
          <p:nvPr/>
        </p:nvSpPr>
        <p:spPr>
          <a:xfrm>
            <a:off x="3275528" y="1850010"/>
            <a:ext cx="1632246" cy="87808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Registration Form</a:t>
            </a:r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A6589FFB-5CE7-EBAF-3496-C7A53D00B8D1}"/>
              </a:ext>
            </a:extLst>
          </p:cNvPr>
          <p:cNvSpPr/>
          <p:nvPr/>
        </p:nvSpPr>
        <p:spPr>
          <a:xfrm>
            <a:off x="3281878" y="4087801"/>
            <a:ext cx="1632246" cy="87808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Login Form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FCD9026-7B9B-9E98-22D5-6F0AF6FC2248}"/>
              </a:ext>
            </a:extLst>
          </p:cNvPr>
          <p:cNvCxnSpPr>
            <a:cxnSpLocks/>
            <a:stCxn id="5" idx="3"/>
            <a:endCxn id="36" idx="1"/>
          </p:cNvCxnSpPr>
          <p:nvPr/>
        </p:nvCxnSpPr>
        <p:spPr>
          <a:xfrm>
            <a:off x="4907774" y="2289050"/>
            <a:ext cx="671273" cy="6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26845A9-1D47-18EC-FB18-64E5CFD45670}"/>
              </a:ext>
            </a:extLst>
          </p:cNvPr>
          <p:cNvSpPr txBox="1"/>
          <p:nvPr/>
        </p:nvSpPr>
        <p:spPr>
          <a:xfrm>
            <a:off x="8854945" y="2032414"/>
            <a:ext cx="1042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Store to</a:t>
            </a:r>
          </a:p>
        </p:txBody>
      </p:sp>
      <p:sp>
        <p:nvSpPr>
          <p:cNvPr id="22" name="Flowchart: Process 21">
            <a:extLst>
              <a:ext uri="{FF2B5EF4-FFF2-40B4-BE49-F238E27FC236}">
                <a16:creationId xmlns:a16="http://schemas.microsoft.com/office/drawing/2014/main" id="{DAF20B66-F1DF-50B9-0FE6-63234F611F18}"/>
              </a:ext>
            </a:extLst>
          </p:cNvPr>
          <p:cNvSpPr/>
          <p:nvPr/>
        </p:nvSpPr>
        <p:spPr>
          <a:xfrm>
            <a:off x="6629756" y="386420"/>
            <a:ext cx="1914258" cy="100555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SQLite DB Browser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6299ED1-5F3E-A676-1509-D8932B7DB1F9}"/>
              </a:ext>
            </a:extLst>
          </p:cNvPr>
          <p:cNvCxnSpPr>
            <a:cxnSpLocks/>
            <a:stCxn id="36" idx="3"/>
            <a:endCxn id="4" idx="2"/>
          </p:cNvCxnSpPr>
          <p:nvPr/>
        </p:nvCxnSpPr>
        <p:spPr>
          <a:xfrm>
            <a:off x="8247602" y="2295674"/>
            <a:ext cx="1806539" cy="89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5B4E308-F99D-F4F6-A6CA-699036788512}"/>
              </a:ext>
            </a:extLst>
          </p:cNvPr>
          <p:cNvSpPr txBox="1"/>
          <p:nvPr/>
        </p:nvSpPr>
        <p:spPr>
          <a:xfrm>
            <a:off x="8655547" y="485012"/>
            <a:ext cx="1887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Read/Modified</a:t>
            </a:r>
          </a:p>
        </p:txBody>
      </p:sp>
      <p:sp>
        <p:nvSpPr>
          <p:cNvPr id="23" name="Smiley Face 22">
            <a:extLst>
              <a:ext uri="{FF2B5EF4-FFF2-40B4-BE49-F238E27FC236}">
                <a16:creationId xmlns:a16="http://schemas.microsoft.com/office/drawing/2014/main" id="{CD009921-073E-FA25-F56B-71DD9539CF35}"/>
              </a:ext>
            </a:extLst>
          </p:cNvPr>
          <p:cNvSpPr/>
          <p:nvPr/>
        </p:nvSpPr>
        <p:spPr>
          <a:xfrm>
            <a:off x="156546" y="2875343"/>
            <a:ext cx="867747" cy="722911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B70760AD-3139-2A2F-0E6C-F495AFC7F4CE}"/>
              </a:ext>
            </a:extLst>
          </p:cNvPr>
          <p:cNvCxnSpPr>
            <a:cxnSpLocks/>
            <a:stCxn id="61" idx="0"/>
            <a:endCxn id="5" idx="1"/>
          </p:cNvCxnSpPr>
          <p:nvPr/>
        </p:nvCxnSpPr>
        <p:spPr>
          <a:xfrm rot="5400000" flipH="1" flipV="1">
            <a:off x="2496476" y="2015240"/>
            <a:ext cx="505241" cy="10528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6124215B-92B1-A72F-044F-A8BE57BE5FB4}"/>
              </a:ext>
            </a:extLst>
          </p:cNvPr>
          <p:cNvCxnSpPr>
            <a:cxnSpLocks/>
            <a:stCxn id="61" idx="2"/>
            <a:endCxn id="13" idx="1"/>
          </p:cNvCxnSpPr>
          <p:nvPr/>
        </p:nvCxnSpPr>
        <p:spPr>
          <a:xfrm rot="16200000" flipH="1">
            <a:off x="2325036" y="3569999"/>
            <a:ext cx="854470" cy="105921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lowchart: Decision 35">
            <a:extLst>
              <a:ext uri="{FF2B5EF4-FFF2-40B4-BE49-F238E27FC236}">
                <a16:creationId xmlns:a16="http://schemas.microsoft.com/office/drawing/2014/main" id="{06E5062D-3757-F201-3D30-861B17581F0D}"/>
              </a:ext>
            </a:extLst>
          </p:cNvPr>
          <p:cNvSpPr/>
          <p:nvPr/>
        </p:nvSpPr>
        <p:spPr>
          <a:xfrm>
            <a:off x="5579047" y="1863257"/>
            <a:ext cx="2668555" cy="864833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Pass Validation?</a:t>
            </a:r>
            <a:endParaRPr lang="en-MY" dirty="0"/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97BE6572-98AE-6D6B-54DA-DF2EBC1F25F5}"/>
              </a:ext>
            </a:extLst>
          </p:cNvPr>
          <p:cNvCxnSpPr>
            <a:cxnSpLocks/>
            <a:stCxn id="36" idx="2"/>
            <a:endCxn id="5" idx="2"/>
          </p:cNvCxnSpPr>
          <p:nvPr/>
        </p:nvCxnSpPr>
        <p:spPr>
          <a:xfrm rot="5400000">
            <a:off x="5502488" y="1317253"/>
            <a:ext cx="12700" cy="2821674"/>
          </a:xfrm>
          <a:prstGeom prst="bentConnector3">
            <a:avLst>
              <a:gd name="adj1" fmla="val 52530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A4837DE-85C3-006D-C781-39237872F5F3}"/>
              </a:ext>
            </a:extLst>
          </p:cNvPr>
          <p:cNvSpPr txBox="1"/>
          <p:nvPr/>
        </p:nvSpPr>
        <p:spPr>
          <a:xfrm>
            <a:off x="4173438" y="3025718"/>
            <a:ext cx="1468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Enter again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5787372-1E78-AF7A-0910-8C01CE59E8F2}"/>
              </a:ext>
            </a:extLst>
          </p:cNvPr>
          <p:cNvSpPr txBox="1"/>
          <p:nvPr/>
        </p:nvSpPr>
        <p:spPr>
          <a:xfrm>
            <a:off x="8194704" y="1990671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03D52E3-3B73-4F5A-80D6-F1A7A3B59822}"/>
              </a:ext>
            </a:extLst>
          </p:cNvPr>
          <p:cNvSpPr txBox="1"/>
          <p:nvPr/>
        </p:nvSpPr>
        <p:spPr>
          <a:xfrm>
            <a:off x="6872766" y="2671362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2149CCB-3C6E-A026-15CD-EED35C4174D7}"/>
              </a:ext>
            </a:extLst>
          </p:cNvPr>
          <p:cNvSpPr txBox="1"/>
          <p:nvPr/>
        </p:nvSpPr>
        <p:spPr>
          <a:xfrm>
            <a:off x="268055" y="3553843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663C87A2-0754-0785-B159-7EE6ED7C488F}"/>
              </a:ext>
            </a:extLst>
          </p:cNvPr>
          <p:cNvCxnSpPr>
            <a:cxnSpLocks/>
            <a:stCxn id="4" idx="3"/>
            <a:endCxn id="13" idx="3"/>
          </p:cNvCxnSpPr>
          <p:nvPr/>
        </p:nvCxnSpPr>
        <p:spPr>
          <a:xfrm rot="5400000">
            <a:off x="6987804" y="952029"/>
            <a:ext cx="1501132" cy="56484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C0D7C0E-BF83-60DF-A5BF-106547E47C05}"/>
              </a:ext>
            </a:extLst>
          </p:cNvPr>
          <p:cNvSpPr txBox="1"/>
          <p:nvPr/>
        </p:nvSpPr>
        <p:spPr>
          <a:xfrm>
            <a:off x="9142033" y="3837493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Redirect to</a:t>
            </a:r>
          </a:p>
        </p:txBody>
      </p:sp>
      <p:sp>
        <p:nvSpPr>
          <p:cNvPr id="56" name="Flowchart: Decision 55">
            <a:extLst>
              <a:ext uri="{FF2B5EF4-FFF2-40B4-BE49-F238E27FC236}">
                <a16:creationId xmlns:a16="http://schemas.microsoft.com/office/drawing/2014/main" id="{0D4E9A71-8687-C8A4-7458-22164D13E114}"/>
              </a:ext>
            </a:extLst>
          </p:cNvPr>
          <p:cNvSpPr/>
          <p:nvPr/>
        </p:nvSpPr>
        <p:spPr>
          <a:xfrm>
            <a:off x="5243410" y="5215133"/>
            <a:ext cx="1875847" cy="864833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Valid info?</a:t>
            </a:r>
            <a:endParaRPr lang="en-MY" dirty="0"/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F1A76130-2CA6-5B15-CF74-A98E21BDA5DA}"/>
              </a:ext>
            </a:extLst>
          </p:cNvPr>
          <p:cNvCxnSpPr>
            <a:cxnSpLocks/>
            <a:stCxn id="13" idx="2"/>
            <a:endCxn id="56" idx="1"/>
          </p:cNvCxnSpPr>
          <p:nvPr/>
        </p:nvCxnSpPr>
        <p:spPr>
          <a:xfrm rot="16200000" flipH="1">
            <a:off x="4329871" y="4734010"/>
            <a:ext cx="681669" cy="11454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Flowchart: Process 59">
            <a:extLst>
              <a:ext uri="{FF2B5EF4-FFF2-40B4-BE49-F238E27FC236}">
                <a16:creationId xmlns:a16="http://schemas.microsoft.com/office/drawing/2014/main" id="{B03A4C8E-936F-72CA-601E-D906895E4AA8}"/>
              </a:ext>
            </a:extLst>
          </p:cNvPr>
          <p:cNvSpPr/>
          <p:nvPr/>
        </p:nvSpPr>
        <p:spPr>
          <a:xfrm>
            <a:off x="7810945" y="5207626"/>
            <a:ext cx="1632246" cy="87808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Welcome View</a:t>
            </a:r>
          </a:p>
        </p:txBody>
      </p: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9FFB6FC7-1005-E724-E2DE-16EECD498E9C}"/>
              </a:ext>
            </a:extLst>
          </p:cNvPr>
          <p:cNvSpPr/>
          <p:nvPr/>
        </p:nvSpPr>
        <p:spPr>
          <a:xfrm>
            <a:off x="1406542" y="2794291"/>
            <a:ext cx="1632246" cy="87808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 view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D392146-86ED-F50D-CD77-523EA6B3E827}"/>
              </a:ext>
            </a:extLst>
          </p:cNvPr>
          <p:cNvCxnSpPr>
            <a:cxnSpLocks/>
            <a:stCxn id="23" idx="6"/>
            <a:endCxn id="61" idx="1"/>
          </p:cNvCxnSpPr>
          <p:nvPr/>
        </p:nvCxnSpPr>
        <p:spPr>
          <a:xfrm flipV="1">
            <a:off x="1024293" y="3233331"/>
            <a:ext cx="382249" cy="3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84671D81-D003-9142-990A-A11A53FFE981}"/>
              </a:ext>
            </a:extLst>
          </p:cNvPr>
          <p:cNvCxnSpPr>
            <a:cxnSpLocks/>
            <a:stCxn id="56" idx="0"/>
            <a:endCxn id="13" idx="0"/>
          </p:cNvCxnSpPr>
          <p:nvPr/>
        </p:nvCxnSpPr>
        <p:spPr>
          <a:xfrm rot="16200000" flipV="1">
            <a:off x="4576002" y="3609800"/>
            <a:ext cx="1127332" cy="2083333"/>
          </a:xfrm>
          <a:prstGeom prst="bentConnector3">
            <a:avLst>
              <a:gd name="adj1" fmla="val 1202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8EA2218-F34F-4620-7600-A3581C5A0872}"/>
              </a:ext>
            </a:extLst>
          </p:cNvPr>
          <p:cNvCxnSpPr>
            <a:cxnSpLocks/>
            <a:stCxn id="56" idx="3"/>
            <a:endCxn id="60" idx="1"/>
          </p:cNvCxnSpPr>
          <p:nvPr/>
        </p:nvCxnSpPr>
        <p:spPr>
          <a:xfrm flipV="1">
            <a:off x="7119257" y="5646666"/>
            <a:ext cx="691688" cy="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Flowchart: Connector 95">
            <a:extLst>
              <a:ext uri="{FF2B5EF4-FFF2-40B4-BE49-F238E27FC236}">
                <a16:creationId xmlns:a16="http://schemas.microsoft.com/office/drawing/2014/main" id="{4117507E-A186-9469-FBFA-53E8850D7DC1}"/>
              </a:ext>
            </a:extLst>
          </p:cNvPr>
          <p:cNvSpPr/>
          <p:nvPr/>
        </p:nvSpPr>
        <p:spPr>
          <a:xfrm>
            <a:off x="10213923" y="5450723"/>
            <a:ext cx="1206747" cy="39188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  <a:endParaRPr lang="en-MY" dirty="0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EB93C7C-F060-4061-3EBD-C54D53A8DD19}"/>
              </a:ext>
            </a:extLst>
          </p:cNvPr>
          <p:cNvCxnSpPr>
            <a:cxnSpLocks/>
            <a:stCxn id="60" idx="3"/>
            <a:endCxn id="96" idx="2"/>
          </p:cNvCxnSpPr>
          <p:nvPr/>
        </p:nvCxnSpPr>
        <p:spPr>
          <a:xfrm>
            <a:off x="9443191" y="5646666"/>
            <a:ext cx="7707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592DB226-9913-82B4-9D52-95B46F1EC0E6}"/>
              </a:ext>
            </a:extLst>
          </p:cNvPr>
          <p:cNvSpPr txBox="1"/>
          <p:nvPr/>
        </p:nvSpPr>
        <p:spPr>
          <a:xfrm>
            <a:off x="6124603" y="4887327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69D1093-50D7-C0F2-47C8-A3194A2C1EEB}"/>
              </a:ext>
            </a:extLst>
          </p:cNvPr>
          <p:cNvSpPr txBox="1"/>
          <p:nvPr/>
        </p:nvSpPr>
        <p:spPr>
          <a:xfrm>
            <a:off x="7025513" y="5285017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FCB97C8A-CC74-8CF1-A876-4F5265F79F97}"/>
              </a:ext>
            </a:extLst>
          </p:cNvPr>
          <p:cNvCxnSpPr>
            <a:cxnSpLocks/>
            <a:stCxn id="22" idx="3"/>
            <a:endCxn id="4" idx="1"/>
          </p:cNvCxnSpPr>
          <p:nvPr/>
        </p:nvCxnSpPr>
        <p:spPr>
          <a:xfrm>
            <a:off x="8544014" y="889198"/>
            <a:ext cx="2018602" cy="8556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360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A99C6-85A6-05B0-1206-627C10AD5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this project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16D9A-A4F5-C4C6-C9C9-B75F31D56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the following NuGet Package:</a:t>
            </a:r>
          </a:p>
          <a:p>
            <a:pPr lvl="1"/>
            <a:r>
              <a:rPr lang="en-MY" dirty="0" err="1"/>
              <a:t>Microsoft.EntityFrameworkCore.Sqlite</a:t>
            </a:r>
            <a:r>
              <a:rPr lang="en-MY" dirty="0"/>
              <a:t> (refer </a:t>
            </a:r>
            <a:r>
              <a:rPr lang="en-MY" dirty="0">
                <a:hlinkClick r:id="rId2" action="ppaction://hlinksldjump"/>
              </a:rPr>
              <a:t>slide#6)</a:t>
            </a:r>
            <a:endParaRPr lang="en-MY" dirty="0"/>
          </a:p>
          <a:p>
            <a:pPr lvl="1"/>
            <a:r>
              <a:rPr lang="en-MY" dirty="0" err="1"/>
              <a:t>Microsoft.EntityFrameworkCore.Tools</a:t>
            </a:r>
            <a:r>
              <a:rPr lang="en-MY" dirty="0"/>
              <a:t> (refer </a:t>
            </a:r>
            <a:r>
              <a:rPr lang="en-MY" dirty="0">
                <a:hlinkClick r:id="rId3" action="ppaction://hlinksldjump"/>
              </a:rPr>
              <a:t>slide#9</a:t>
            </a:r>
            <a:r>
              <a:rPr lang="en-MY" dirty="0"/>
              <a:t>)</a:t>
            </a:r>
          </a:p>
          <a:p>
            <a:r>
              <a:rPr lang="en-MY" dirty="0"/>
              <a:t>Run the following command at NuGet Package Console (refer </a:t>
            </a:r>
            <a:r>
              <a:rPr lang="en-MY" dirty="0">
                <a:hlinkClick r:id="rId4" action="ppaction://hlinksldjump"/>
              </a:rPr>
              <a:t>slide#10</a:t>
            </a:r>
            <a:r>
              <a:rPr lang="en-MY" dirty="0"/>
              <a:t>)</a:t>
            </a:r>
          </a:p>
          <a:p>
            <a:pPr lvl="1"/>
            <a:r>
              <a:rPr lang="en-MY" dirty="0"/>
              <a:t>Add-Migration </a:t>
            </a:r>
            <a:r>
              <a:rPr lang="en-MY" dirty="0" err="1"/>
              <a:t>FirstCreate</a:t>
            </a:r>
            <a:endParaRPr lang="en-MY" dirty="0"/>
          </a:p>
          <a:p>
            <a:pPr lvl="1"/>
            <a:r>
              <a:rPr lang="en-MY" dirty="0"/>
              <a:t>Update-Database</a:t>
            </a:r>
          </a:p>
          <a:p>
            <a:r>
              <a:rPr lang="en-MY" dirty="0"/>
              <a:t>Debug the application to run</a:t>
            </a:r>
          </a:p>
        </p:txBody>
      </p:sp>
    </p:spTree>
    <p:extLst>
      <p:ext uri="{BB962C8B-B14F-4D97-AF65-F5344CB8AC3E}">
        <p14:creationId xmlns:p14="http://schemas.microsoft.com/office/powerpoint/2010/main" val="2796782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197F5-6805-689F-71C0-551FFD6F5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– User class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66AA06-3E3F-C35D-D2A4-3F634FA3BF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7579529"/>
              </p:ext>
            </p:extLst>
          </p:nvPr>
        </p:nvGraphicFramePr>
        <p:xfrm>
          <a:off x="2592925" y="1540042"/>
          <a:ext cx="7507923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793">
                  <a:extLst>
                    <a:ext uri="{9D8B030D-6E8A-4147-A177-3AD203B41FA5}">
                      <a16:colId xmlns:a16="http://schemas.microsoft.com/office/drawing/2014/main" val="1589633609"/>
                    </a:ext>
                  </a:extLst>
                </a:gridCol>
                <a:gridCol w="2424430">
                  <a:extLst>
                    <a:ext uri="{9D8B030D-6E8A-4147-A177-3AD203B41FA5}">
                      <a16:colId xmlns:a16="http://schemas.microsoft.com/office/drawing/2014/main" val="2367633077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84215897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32978490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Property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240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 increase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46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78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LastName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974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560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DateOfBirth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DateTime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860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PhoneNumber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362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AddressFirstLine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734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AddressSecondLine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928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AddressCity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250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Postcode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298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EmailAddress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025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0759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FB874-AE57-6EF8-7257-7F4738EB6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NuGet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87CB2-44E3-8D4E-325D-4ACD41F3E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7917" y="1697764"/>
            <a:ext cx="10368185" cy="3777622"/>
          </a:xfrm>
        </p:spPr>
        <p:txBody>
          <a:bodyPr/>
          <a:lstStyle/>
          <a:p>
            <a:r>
              <a:rPr lang="en-US" dirty="0"/>
              <a:t>Tools &gt; </a:t>
            </a:r>
            <a:r>
              <a:rPr lang="en-US" dirty="0" err="1"/>
              <a:t>Nuget</a:t>
            </a:r>
            <a:r>
              <a:rPr lang="en-US" dirty="0"/>
              <a:t> Package Manager &gt; Manage NuGet Package Manager for Solution …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5A06B60-A056-E308-1C5D-A4BA04B8F9BF}"/>
              </a:ext>
            </a:extLst>
          </p:cNvPr>
          <p:cNvGrpSpPr/>
          <p:nvPr/>
        </p:nvGrpSpPr>
        <p:grpSpPr>
          <a:xfrm>
            <a:off x="1495514" y="2170587"/>
            <a:ext cx="10287522" cy="4448175"/>
            <a:chOff x="1495514" y="2170587"/>
            <a:chExt cx="10287522" cy="444817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F28E483-1EA3-3983-7324-63F25D4C4A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92925" y="2170587"/>
              <a:ext cx="8553450" cy="4448175"/>
            </a:xfrm>
            <a:prstGeom prst="rect">
              <a:avLst/>
            </a:prstGeom>
          </p:spPr>
        </p:pic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883CAB14-C203-80D0-8953-54B8D03CF0D7}"/>
                </a:ext>
              </a:extLst>
            </p:cNvPr>
            <p:cNvSpPr/>
            <p:nvPr/>
          </p:nvSpPr>
          <p:spPr>
            <a:xfrm>
              <a:off x="1495514" y="4067798"/>
              <a:ext cx="1273323" cy="885203"/>
            </a:xfrm>
            <a:prstGeom prst="wedgeRoundRectCallout">
              <a:avLst>
                <a:gd name="adj1" fmla="val 58477"/>
                <a:gd name="adj2" fmla="val -93896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Select this</a:t>
              </a:r>
            </a:p>
          </p:txBody>
        </p:sp>
        <p:sp>
          <p:nvSpPr>
            <p:cNvPr id="9" name="Speech Bubble: Rectangle with Corners Rounded 8">
              <a:extLst>
                <a:ext uri="{FF2B5EF4-FFF2-40B4-BE49-F238E27FC236}">
                  <a16:creationId xmlns:a16="http://schemas.microsoft.com/office/drawing/2014/main" id="{3FB32CF0-409A-2E2E-36C1-3C229F65083B}"/>
                </a:ext>
              </a:extLst>
            </p:cNvPr>
            <p:cNvSpPr/>
            <p:nvPr/>
          </p:nvSpPr>
          <p:spPr>
            <a:xfrm>
              <a:off x="10509713" y="4275034"/>
              <a:ext cx="1273323" cy="356788"/>
            </a:xfrm>
            <a:prstGeom prst="wedgeRoundRectCallout">
              <a:avLst>
                <a:gd name="adj1" fmla="val -68369"/>
                <a:gd name="adj2" fmla="val -44661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Tick</a:t>
              </a:r>
            </a:p>
          </p:txBody>
        </p:sp>
        <p:sp>
          <p:nvSpPr>
            <p:cNvPr id="10" name="Speech Bubble: Rectangle with Corners Rounded 9">
              <a:extLst>
                <a:ext uri="{FF2B5EF4-FFF2-40B4-BE49-F238E27FC236}">
                  <a16:creationId xmlns:a16="http://schemas.microsoft.com/office/drawing/2014/main" id="{EEF16000-14FB-8355-1943-F9B48BC50468}"/>
                </a:ext>
              </a:extLst>
            </p:cNvPr>
            <p:cNvSpPr/>
            <p:nvPr/>
          </p:nvSpPr>
          <p:spPr>
            <a:xfrm>
              <a:off x="8195417" y="4777099"/>
              <a:ext cx="1928666" cy="383137"/>
            </a:xfrm>
            <a:prstGeom prst="wedgeRoundRectCallout">
              <a:avLst>
                <a:gd name="adj1" fmla="val 6754"/>
                <a:gd name="adj2" fmla="val 281884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Choose correct version before install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1609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1BCEA-D052-968C-9933-BD6AB664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Validate the Package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C6FACD-5018-EA90-FBAF-0F66B95D8D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3363" y="2751137"/>
            <a:ext cx="3467100" cy="2543175"/>
          </a:xfr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6C010-94B0-5A80-BB30-81EBADE57F58}"/>
              </a:ext>
            </a:extLst>
          </p:cNvPr>
          <p:cNvSpPr/>
          <p:nvPr/>
        </p:nvSpPr>
        <p:spPr>
          <a:xfrm>
            <a:off x="5860108" y="4477996"/>
            <a:ext cx="2871387" cy="23073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94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2A33A-FBD6-4E11-6E02-758AE15F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DbContext</a:t>
            </a:r>
            <a:r>
              <a:rPr lang="en-US" dirty="0"/>
              <a:t> – create the connection to database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AF673D-2E99-4DF5-6AF4-DC8E15CB91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9213" y="2954098"/>
            <a:ext cx="8915400" cy="2137253"/>
          </a:xfrm>
        </p:spPr>
      </p:pic>
    </p:spTree>
    <p:extLst>
      <p:ext uri="{BB962C8B-B14F-4D97-AF65-F5344CB8AC3E}">
        <p14:creationId xmlns:p14="http://schemas.microsoft.com/office/powerpoint/2010/main" val="945859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2D55D-8FFD-B451-C27D-93EF404F3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NuGet Package for DB Migration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1AF256-2D03-3AA7-ED41-190AFFDA7D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9944" y="2133600"/>
            <a:ext cx="7273938" cy="3778250"/>
          </a:xfr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351E2FB-1978-2372-9F4D-D82EA24616E3}"/>
              </a:ext>
            </a:extLst>
          </p:cNvPr>
          <p:cNvGrpSpPr/>
          <p:nvPr/>
        </p:nvGrpSpPr>
        <p:grpSpPr>
          <a:xfrm>
            <a:off x="2230452" y="3832432"/>
            <a:ext cx="9166954" cy="885203"/>
            <a:chOff x="2230452" y="3832432"/>
            <a:chExt cx="9166954" cy="885203"/>
          </a:xfrm>
        </p:grpSpPr>
        <p:sp>
          <p:nvSpPr>
            <p:cNvPr id="6" name="Speech Bubble: Rectangle with Corners Rounded 5">
              <a:extLst>
                <a:ext uri="{FF2B5EF4-FFF2-40B4-BE49-F238E27FC236}">
                  <a16:creationId xmlns:a16="http://schemas.microsoft.com/office/drawing/2014/main" id="{37DA80F2-A177-E27F-1FEC-F38C688FC743}"/>
                </a:ext>
              </a:extLst>
            </p:cNvPr>
            <p:cNvSpPr/>
            <p:nvPr/>
          </p:nvSpPr>
          <p:spPr>
            <a:xfrm>
              <a:off x="2230452" y="3832432"/>
              <a:ext cx="1273323" cy="885203"/>
            </a:xfrm>
            <a:prstGeom prst="wedgeRoundRectCallout">
              <a:avLst>
                <a:gd name="adj1" fmla="val 58477"/>
                <a:gd name="adj2" fmla="val -93896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Select this</a:t>
              </a:r>
            </a:p>
          </p:txBody>
        </p:sp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74CB4463-0362-7D58-B9EC-3A16574A5361}"/>
                </a:ext>
              </a:extLst>
            </p:cNvPr>
            <p:cNvSpPr/>
            <p:nvPr/>
          </p:nvSpPr>
          <p:spPr>
            <a:xfrm>
              <a:off x="10124083" y="3935338"/>
              <a:ext cx="1273323" cy="356788"/>
            </a:xfrm>
            <a:prstGeom prst="wedgeRoundRectCallout">
              <a:avLst>
                <a:gd name="adj1" fmla="val -68369"/>
                <a:gd name="adj2" fmla="val -44661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Tick</a:t>
              </a:r>
            </a:p>
          </p:txBody>
        </p:sp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9FB7F924-DF47-79B1-D723-674B437D4F18}"/>
                </a:ext>
              </a:extLst>
            </p:cNvPr>
            <p:cNvSpPr/>
            <p:nvPr/>
          </p:nvSpPr>
          <p:spPr>
            <a:xfrm>
              <a:off x="8195417" y="4248685"/>
              <a:ext cx="1928666" cy="383137"/>
            </a:xfrm>
            <a:prstGeom prst="wedgeRoundRectCallout">
              <a:avLst>
                <a:gd name="adj1" fmla="val 6754"/>
                <a:gd name="adj2" fmla="val 281884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Choose correct version before install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4C119A4-4192-A9F7-1E4D-34E8718FEAB8}"/>
              </a:ext>
            </a:extLst>
          </p:cNvPr>
          <p:cNvSpPr txBox="1"/>
          <p:nvPr/>
        </p:nvSpPr>
        <p:spPr>
          <a:xfrm>
            <a:off x="2592925" y="6340979"/>
            <a:ext cx="839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 </a:t>
            </a:r>
            <a:r>
              <a:rPr lang="en-US" dirty="0">
                <a:hlinkClick r:id="rId3" action="ppaction://hlinksldjump"/>
              </a:rPr>
              <a:t>Validate the Package</a:t>
            </a:r>
            <a:r>
              <a:rPr lang="en-US" dirty="0"/>
              <a:t> slide on how to validate if installation success</a:t>
            </a:r>
          </a:p>
        </p:txBody>
      </p:sp>
    </p:spTree>
    <p:extLst>
      <p:ext uri="{BB962C8B-B14F-4D97-AF65-F5344CB8AC3E}">
        <p14:creationId xmlns:p14="http://schemas.microsoft.com/office/powerpoint/2010/main" val="3916405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7100F-0655-5A73-C119-70BAB4992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507920" cy="1280890"/>
          </a:xfrm>
        </p:spPr>
        <p:txBody>
          <a:bodyPr/>
          <a:lstStyle/>
          <a:p>
            <a:r>
              <a:rPr lang="en-US" dirty="0"/>
              <a:t>Migration – version control for Db schema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39CECC-A3AE-75D0-D6E6-C902AC2104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3219"/>
          <a:stretch/>
        </p:blipFill>
        <p:spPr>
          <a:xfrm>
            <a:off x="2678383" y="1905000"/>
            <a:ext cx="3243853" cy="145732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8B45B5-7F77-E9BF-E2A0-01E0F4BF5A8B}"/>
              </a:ext>
            </a:extLst>
          </p:cNvPr>
          <p:cNvSpPr txBox="1"/>
          <p:nvPr/>
        </p:nvSpPr>
        <p:spPr>
          <a:xfrm>
            <a:off x="2484688" y="1421943"/>
            <a:ext cx="7411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Tools &gt; </a:t>
            </a:r>
            <a:r>
              <a:rPr lang="en-US" dirty="0" err="1"/>
              <a:t>Nuget</a:t>
            </a:r>
            <a:r>
              <a:rPr lang="en-US" dirty="0"/>
              <a:t> Package Manager &gt; Package Manager Console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093B12-9AD7-77D8-467B-814BC9795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786" y="1905000"/>
            <a:ext cx="3343275" cy="27051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A1B903-3A0A-791E-4236-2394566BB262}"/>
              </a:ext>
            </a:extLst>
          </p:cNvPr>
          <p:cNvSpPr/>
          <p:nvPr/>
        </p:nvSpPr>
        <p:spPr>
          <a:xfrm>
            <a:off x="7277729" y="3620855"/>
            <a:ext cx="3028499" cy="20202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2F288DE8-F8EC-5769-3316-7E6E1602FA8F}"/>
              </a:ext>
            </a:extLst>
          </p:cNvPr>
          <p:cNvSpPr/>
          <p:nvPr/>
        </p:nvSpPr>
        <p:spPr>
          <a:xfrm>
            <a:off x="10424514" y="2846030"/>
            <a:ext cx="1928666" cy="383137"/>
          </a:xfrm>
          <a:prstGeom prst="wedgeRoundRectCallout">
            <a:avLst>
              <a:gd name="adj1" fmla="val -81865"/>
              <a:gd name="adj2" fmla="val 15028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Created the Migrations class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ABF06A-4D19-3632-14FB-500BBBACE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229" y="5114702"/>
            <a:ext cx="5229225" cy="15525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FD8CB9D-92EB-1953-74EF-F51BDA861EF1}"/>
              </a:ext>
            </a:extLst>
          </p:cNvPr>
          <p:cNvSpPr txBox="1"/>
          <p:nvPr/>
        </p:nvSpPr>
        <p:spPr>
          <a:xfrm>
            <a:off x="10699335" y="48796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65721DC-68DD-3F49-E5E0-05063A0C8587}"/>
              </a:ext>
            </a:extLst>
          </p:cNvPr>
          <p:cNvSpPr/>
          <p:nvPr/>
        </p:nvSpPr>
        <p:spPr>
          <a:xfrm>
            <a:off x="8646920" y="5417276"/>
            <a:ext cx="1316052" cy="2784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Create user table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F7A9B85-989F-7C4F-42C5-44C63021C2F1}"/>
              </a:ext>
            </a:extLst>
          </p:cNvPr>
          <p:cNvSpPr/>
          <p:nvPr/>
        </p:nvSpPr>
        <p:spPr>
          <a:xfrm>
            <a:off x="8646920" y="6061104"/>
            <a:ext cx="1316052" cy="2784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Drop user table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75B94EB-D1CD-38E5-D3E5-27D70DDBA0A8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>
            <a:off x="8791979" y="3822884"/>
            <a:ext cx="573863" cy="12918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E9A34D1A-4F98-0DC6-A3BE-67741AB2EC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15" y="5209951"/>
            <a:ext cx="3495675" cy="1362075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4C96CA-0220-2C58-E25B-B69AB03709C0}"/>
              </a:ext>
            </a:extLst>
          </p:cNvPr>
          <p:cNvCxnSpPr>
            <a:cxnSpLocks/>
            <a:stCxn id="25" idx="3"/>
            <a:endCxn id="13" idx="1"/>
          </p:cNvCxnSpPr>
          <p:nvPr/>
        </p:nvCxnSpPr>
        <p:spPr>
          <a:xfrm>
            <a:off x="2678384" y="5745076"/>
            <a:ext cx="4072845" cy="1459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4A32C7B-701E-FE15-9D76-66CA73674A40}"/>
              </a:ext>
            </a:extLst>
          </p:cNvPr>
          <p:cNvSpPr/>
          <p:nvPr/>
        </p:nvSpPr>
        <p:spPr>
          <a:xfrm>
            <a:off x="1559392" y="5670465"/>
            <a:ext cx="1118992" cy="14922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A5EAE6-47DD-50C9-E5F0-24564BC3DF26}"/>
              </a:ext>
            </a:extLst>
          </p:cNvPr>
          <p:cNvSpPr txBox="1"/>
          <p:nvPr/>
        </p:nvSpPr>
        <p:spPr>
          <a:xfrm>
            <a:off x="4639911" y="5448701"/>
            <a:ext cx="2066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 the table</a:t>
            </a:r>
          </a:p>
        </p:txBody>
      </p:sp>
    </p:spTree>
    <p:extLst>
      <p:ext uri="{BB962C8B-B14F-4D97-AF65-F5344CB8AC3E}">
        <p14:creationId xmlns:p14="http://schemas.microsoft.com/office/powerpoint/2010/main" val="2211331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A146-BC7C-E497-86B4-7CA45C70A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266465"/>
            <a:ext cx="8911687" cy="1280890"/>
          </a:xfrm>
        </p:spPr>
        <p:txBody>
          <a:bodyPr/>
          <a:lstStyle/>
          <a:p>
            <a:r>
              <a:rPr lang="en-US" dirty="0"/>
              <a:t>Check the Database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BB8C2F-E805-6A0B-5DAE-CA9561DC53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2793"/>
          <a:stretch/>
        </p:blipFill>
        <p:spPr>
          <a:xfrm>
            <a:off x="3559379" y="1065904"/>
            <a:ext cx="7843140" cy="141212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0E21C3-43A1-9187-CB29-9E3E82392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84" y="1927077"/>
            <a:ext cx="5151828" cy="4930923"/>
          </a:xfrm>
          <a:prstGeom prst="rect">
            <a:avLst/>
          </a:prstGeom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B7F9CEFA-B019-DF16-BE1A-66CD8B978D8A}"/>
              </a:ext>
            </a:extLst>
          </p:cNvPr>
          <p:cNvSpPr/>
          <p:nvPr/>
        </p:nvSpPr>
        <p:spPr>
          <a:xfrm>
            <a:off x="7048768" y="2606467"/>
            <a:ext cx="1928666" cy="383137"/>
          </a:xfrm>
          <a:prstGeom prst="wedgeRoundRectCallout">
            <a:avLst>
              <a:gd name="adj1" fmla="val -54393"/>
              <a:gd name="adj2" fmla="val -15752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Browse with DB Browser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C61A12A-5E51-947E-EA57-78CB41AE3024}"/>
              </a:ext>
            </a:extLst>
          </p:cNvPr>
          <p:cNvCxnSpPr>
            <a:cxnSpLocks/>
            <a:stCxn id="12" idx="1"/>
            <a:endCxn id="7" idx="3"/>
          </p:cNvCxnSpPr>
          <p:nvPr/>
        </p:nvCxnSpPr>
        <p:spPr>
          <a:xfrm flipH="1">
            <a:off x="5505812" y="2798036"/>
            <a:ext cx="1542956" cy="15945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312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7EAD0-2B81-61A6-613A-5E303B596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LoginUser</a:t>
            </a:r>
            <a:r>
              <a:rPr lang="en-US" dirty="0"/>
              <a:t> implement </a:t>
            </a:r>
            <a:r>
              <a:rPr lang="en-US" dirty="0" err="1"/>
              <a:t>ILogin</a:t>
            </a:r>
            <a:endParaRPr lang="en-MY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3640F2-C608-8FF9-7E96-9508E0254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7970" y="2514521"/>
            <a:ext cx="5563082" cy="1828958"/>
          </a:xfrm>
          <a:prstGeom prst="rect">
            <a:avLst/>
          </a:prstGeom>
        </p:spPr>
      </p:pic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291B4923-6856-BD0B-675C-264A8DE6DD5B}"/>
              </a:ext>
            </a:extLst>
          </p:cNvPr>
          <p:cNvSpPr/>
          <p:nvPr/>
        </p:nvSpPr>
        <p:spPr>
          <a:xfrm>
            <a:off x="7767224" y="4640540"/>
            <a:ext cx="2692391" cy="873852"/>
          </a:xfrm>
          <a:prstGeom prst="wedgeRoundRectCallout">
            <a:avLst>
              <a:gd name="adj1" fmla="val -60284"/>
              <a:gd name="adj2" fmla="val -10840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user details if found</a:t>
            </a:r>
          </a:p>
        </p:txBody>
      </p:sp>
    </p:spTree>
    <p:extLst>
      <p:ext uri="{BB962C8B-B14F-4D97-AF65-F5344CB8AC3E}">
        <p14:creationId xmlns:p14="http://schemas.microsoft.com/office/powerpoint/2010/main" val="3546227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12D0-E4D7-3D5D-AD9C-2E441C0C3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RegisterUser</a:t>
            </a:r>
            <a:r>
              <a:rPr lang="en-US" dirty="0"/>
              <a:t> implement </a:t>
            </a:r>
            <a:r>
              <a:rPr lang="en-US" dirty="0" err="1"/>
              <a:t>IRegister</a:t>
            </a:r>
            <a:endParaRPr lang="en-MY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5AB8AD-0F96-DA35-4D5C-EDFBD923B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5" y="1567036"/>
            <a:ext cx="7978831" cy="16079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58D080-E369-B393-3A8C-D9BCFD8E7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925" y="3520228"/>
            <a:ext cx="6911939" cy="3223539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0D2F2F77-DBC7-9255-05FD-F129C169EE5B}"/>
              </a:ext>
            </a:extLst>
          </p:cNvPr>
          <p:cNvSpPr/>
          <p:nvPr/>
        </p:nvSpPr>
        <p:spPr>
          <a:xfrm>
            <a:off x="10003009" y="3174995"/>
            <a:ext cx="2070350" cy="873852"/>
          </a:xfrm>
          <a:prstGeom prst="wedgeRoundRectCallout">
            <a:avLst>
              <a:gd name="adj1" fmla="val -60284"/>
              <a:gd name="adj2" fmla="val -10840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if Email was used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34516688-9C67-63C3-9D72-1115B07AC39B}"/>
              </a:ext>
            </a:extLst>
          </p:cNvPr>
          <p:cNvSpPr/>
          <p:nvPr/>
        </p:nvSpPr>
        <p:spPr>
          <a:xfrm>
            <a:off x="9716870" y="5594733"/>
            <a:ext cx="2070350" cy="873852"/>
          </a:xfrm>
          <a:prstGeom prst="wedgeRoundRectCallout">
            <a:avLst>
              <a:gd name="adj1" fmla="val -90479"/>
              <a:gd name="adj2" fmla="val 50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 the user to </a:t>
            </a:r>
            <a:r>
              <a:rPr lang="en-US" dirty="0" err="1"/>
              <a:t>db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301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54D5C-6E09-C344-E4DA-00A6A189D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FieldValidatorAPI</a:t>
            </a:r>
            <a:r>
              <a:rPr lang="en-US" dirty="0"/>
              <a:t> – </a:t>
            </a:r>
            <a:r>
              <a:rPr lang="en-US" dirty="0" err="1"/>
              <a:t>CommonFiledValidatorFunctions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B708FC-FDF5-194D-2B2E-2D262C69E6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1688" y="3455987"/>
            <a:ext cx="7410450" cy="1133475"/>
          </a:xfr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5D6BB7E6-F863-DE4A-CA1B-A12251838DD2}"/>
              </a:ext>
            </a:extLst>
          </p:cNvPr>
          <p:cNvSpPr/>
          <p:nvPr/>
        </p:nvSpPr>
        <p:spPr>
          <a:xfrm>
            <a:off x="3341688" y="2726389"/>
            <a:ext cx="6229602" cy="383137"/>
          </a:xfrm>
          <a:prstGeom prst="wedgeRoundRectCallout">
            <a:avLst>
              <a:gd name="adj1" fmla="val 1910"/>
              <a:gd name="adj2" fmla="val 17928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This delegate can reference any method that take a single string parameter and return bool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954640-D2C0-E61A-6C30-93BEC0805312}"/>
              </a:ext>
            </a:extLst>
          </p:cNvPr>
          <p:cNvSpPr txBox="1"/>
          <p:nvPr/>
        </p:nvSpPr>
        <p:spPr>
          <a:xfrm>
            <a:off x="5877371" y="4660513"/>
            <a:ext cx="2540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Delegate Definitions</a:t>
            </a:r>
          </a:p>
        </p:txBody>
      </p:sp>
    </p:spTree>
    <p:extLst>
      <p:ext uri="{BB962C8B-B14F-4D97-AF65-F5344CB8AC3E}">
        <p14:creationId xmlns:p14="http://schemas.microsoft.com/office/powerpoint/2010/main" val="3146982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C3FAE-37CE-59B3-16A7-7D9E9C137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FieldValidatorAPI</a:t>
            </a:r>
            <a:r>
              <a:rPr lang="en-US" dirty="0"/>
              <a:t> – </a:t>
            </a:r>
            <a:r>
              <a:rPr lang="en-US" dirty="0" err="1"/>
              <a:t>CommonFiledValidatorFunctions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DD9420-7FE9-4C64-9255-6D7FC31043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0364" y="2133600"/>
            <a:ext cx="4333097" cy="377825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104764-BDA6-9FA3-0DFB-0B70D38277C4}"/>
              </a:ext>
            </a:extLst>
          </p:cNvPr>
          <p:cNvSpPr txBox="1"/>
          <p:nvPr/>
        </p:nvSpPr>
        <p:spPr>
          <a:xfrm>
            <a:off x="4153258" y="5898764"/>
            <a:ext cx="6272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Methods that implement the actual validation logic</a:t>
            </a:r>
          </a:p>
        </p:txBody>
      </p:sp>
    </p:spTree>
    <p:extLst>
      <p:ext uri="{BB962C8B-B14F-4D97-AF65-F5344CB8AC3E}">
        <p14:creationId xmlns:p14="http://schemas.microsoft.com/office/powerpoint/2010/main" val="2857647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FAF2B-0DED-AC89-BA0F-CCCE11B96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FieldValidatorAPI</a:t>
            </a:r>
            <a:r>
              <a:rPr lang="en-US" dirty="0"/>
              <a:t> –</a:t>
            </a:r>
            <a:br>
              <a:rPr lang="en-US" dirty="0"/>
            </a:br>
            <a:r>
              <a:rPr lang="en-US" dirty="0" err="1"/>
              <a:t>CommonFiledValidatorFunctions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71FC70-D2EF-9C0B-46F1-15DEA3758A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1492" y="3960406"/>
            <a:ext cx="7048500" cy="14859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44AFC9-58A3-C846-C3C8-DDEC9A678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676" y="2363839"/>
            <a:ext cx="5686425" cy="209550"/>
          </a:xfrm>
          <a:prstGeom prst="rect">
            <a:avLst/>
          </a:prstGeom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EF4C1DD6-AB05-85F8-93F9-9E3C9A5D5C55}"/>
              </a:ext>
            </a:extLst>
          </p:cNvPr>
          <p:cNvSpPr/>
          <p:nvPr/>
        </p:nvSpPr>
        <p:spPr>
          <a:xfrm>
            <a:off x="7734225" y="1905786"/>
            <a:ext cx="1734514" cy="383137"/>
          </a:xfrm>
          <a:prstGeom prst="wedgeRoundRectCallout">
            <a:avLst>
              <a:gd name="adj1" fmla="val -70230"/>
              <a:gd name="adj2" fmla="val 6775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reference (variable)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93F62E-3781-1025-AB4F-FCF16F261F79}"/>
              </a:ext>
            </a:extLst>
          </p:cNvPr>
          <p:cNvSpPr txBox="1"/>
          <p:nvPr/>
        </p:nvSpPr>
        <p:spPr>
          <a:xfrm>
            <a:off x="2731491" y="5446306"/>
            <a:ext cx="90446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Lazy initialization of the delegate instance.</a:t>
            </a:r>
            <a:br>
              <a:rPr lang="en-US" dirty="0"/>
            </a:br>
            <a:r>
              <a:rPr lang="en-US" dirty="0"/>
              <a:t>This approach also known as Singleton as it only ONE instance created.</a:t>
            </a:r>
            <a:br>
              <a:rPr lang="en-US" dirty="0"/>
            </a:br>
            <a:r>
              <a:rPr lang="en-US" dirty="0"/>
              <a:t>Thus, it always return the instance which is created at first time. </a:t>
            </a:r>
          </a:p>
          <a:p>
            <a:endParaRPr lang="en-US" dirty="0"/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77D99C2A-D3D0-5D40-B04E-8AA819E0178D}"/>
              </a:ext>
            </a:extLst>
          </p:cNvPr>
          <p:cNvSpPr/>
          <p:nvPr/>
        </p:nvSpPr>
        <p:spPr>
          <a:xfrm>
            <a:off x="3810280" y="2725581"/>
            <a:ext cx="5897742" cy="465222"/>
          </a:xfrm>
          <a:prstGeom prst="wedgeRoundRectCallout">
            <a:avLst>
              <a:gd name="adj1" fmla="val -63343"/>
              <a:gd name="adj2" fmla="val -8653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Prevent the user from pointing the delegate to other function and only use the function controlled in get property.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5EC4BB04-354F-4E5A-26F3-B23E95422A84}"/>
              </a:ext>
            </a:extLst>
          </p:cNvPr>
          <p:cNvSpPr/>
          <p:nvPr/>
        </p:nvSpPr>
        <p:spPr>
          <a:xfrm>
            <a:off x="484823" y="3425078"/>
            <a:ext cx="3325457" cy="383137"/>
          </a:xfrm>
          <a:prstGeom prst="wedgeRoundRectCallout">
            <a:avLst>
              <a:gd name="adj1" fmla="val 56628"/>
              <a:gd name="adj2" fmla="val 9452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Lazy Loading: only create the instance when someone calls the get for the first time.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A4BCC9CB-1E27-EC9D-7DFB-E034079CB1EE}"/>
              </a:ext>
            </a:extLst>
          </p:cNvPr>
          <p:cNvSpPr/>
          <p:nvPr/>
        </p:nvSpPr>
        <p:spPr>
          <a:xfrm>
            <a:off x="9064664" y="4152760"/>
            <a:ext cx="1286715" cy="383137"/>
          </a:xfrm>
          <a:prstGeom prst="wedgeRoundRectCallout">
            <a:avLst>
              <a:gd name="adj1" fmla="val -49637"/>
              <a:gd name="adj2" fmla="val 10344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method</a:t>
            </a:r>
          </a:p>
        </p:txBody>
      </p:sp>
    </p:spTree>
    <p:extLst>
      <p:ext uri="{BB962C8B-B14F-4D97-AF65-F5344CB8AC3E}">
        <p14:creationId xmlns:p14="http://schemas.microsoft.com/office/powerpoint/2010/main" val="491318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820CE-AF93-F8EE-D097-9DF5C0859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345550" cy="128089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FieldValidatorAPI</a:t>
            </a:r>
            <a:r>
              <a:rPr lang="en-US" dirty="0"/>
              <a:t> –</a:t>
            </a:r>
            <a:br>
              <a:rPr lang="en-US" dirty="0"/>
            </a:br>
            <a:r>
              <a:rPr lang="en-US" dirty="0" err="1"/>
              <a:t>CommonRegularExpressionValidationPatterns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B6EA87-CF45-3E45-E96C-9E2B62C43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97" y="1878115"/>
            <a:ext cx="10614905" cy="3669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346487-26E2-73B7-CBB0-52B843533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925" y="2372170"/>
            <a:ext cx="4210050" cy="21240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3AA2D8-7D89-0824-4428-C29891A63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550" y="5026084"/>
            <a:ext cx="5048250" cy="92392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DDF75AF-9457-4D58-D1B7-4FE7373714AF}"/>
              </a:ext>
            </a:extLst>
          </p:cNvPr>
          <p:cNvSpPr/>
          <p:nvPr/>
        </p:nvSpPr>
        <p:spPr>
          <a:xfrm>
            <a:off x="7588666" y="1887906"/>
            <a:ext cx="1034042" cy="2912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3F8856E-330D-AFBC-7BD6-45A0A952D287}"/>
              </a:ext>
            </a:extLst>
          </p:cNvPr>
          <p:cNvCxnSpPr>
            <a:cxnSpLocks/>
            <a:stCxn id="14" idx="1"/>
            <a:endCxn id="7" idx="3"/>
          </p:cNvCxnSpPr>
          <p:nvPr/>
        </p:nvCxnSpPr>
        <p:spPr>
          <a:xfrm flipH="1">
            <a:off x="6802975" y="2033542"/>
            <a:ext cx="785691" cy="1400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421274C-5FAB-EA44-092C-08BF3C71AD70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8742348" y="2179178"/>
            <a:ext cx="232327" cy="2846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914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6F4ADBC-D316-9E4C-18A0-3D90C2A0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388" y="623888"/>
            <a:ext cx="9380270" cy="128111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FieldValidatorAPI</a:t>
            </a:r>
            <a:r>
              <a:rPr lang="en-US" dirty="0"/>
              <a:t> –</a:t>
            </a:r>
            <a:br>
              <a:rPr lang="en-US" dirty="0"/>
            </a:br>
            <a:r>
              <a:rPr lang="en-US" dirty="0" err="1"/>
              <a:t>CommonRegularExpressionValidationPatterns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6D268A2-6204-63AE-0316-04E086C49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97" y="2489540"/>
            <a:ext cx="5857875" cy="16573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610273-242D-A303-5585-8B6B12167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877" y="4548187"/>
            <a:ext cx="5953125" cy="1685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6474EE-68AE-5FC5-A247-9553EB870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97" y="1878115"/>
            <a:ext cx="10614905" cy="36693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B6C74EB-0E48-0680-8ED2-75519DFA1E9C}"/>
              </a:ext>
            </a:extLst>
          </p:cNvPr>
          <p:cNvSpPr/>
          <p:nvPr/>
        </p:nvSpPr>
        <p:spPr>
          <a:xfrm>
            <a:off x="8793623" y="1878115"/>
            <a:ext cx="1307506" cy="3291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66A7A2-16C6-5C3C-EC98-AF3F89D5E1FC}"/>
              </a:ext>
            </a:extLst>
          </p:cNvPr>
          <p:cNvSpPr/>
          <p:nvPr/>
        </p:nvSpPr>
        <p:spPr>
          <a:xfrm>
            <a:off x="10118727" y="1888887"/>
            <a:ext cx="1307506" cy="3291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ACE865-5A17-F713-AF9B-15B5964563D6}"/>
              </a:ext>
            </a:extLst>
          </p:cNvPr>
          <p:cNvCxnSpPr>
            <a:cxnSpLocks/>
            <a:stCxn id="7" idx="1"/>
            <a:endCxn id="11" idx="3"/>
          </p:cNvCxnSpPr>
          <p:nvPr/>
        </p:nvCxnSpPr>
        <p:spPr>
          <a:xfrm flipH="1">
            <a:off x="7000972" y="2042667"/>
            <a:ext cx="1792651" cy="1275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7961D08-A493-6011-FA99-A88AF1155CCB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 flipH="1">
            <a:off x="8781440" y="2217990"/>
            <a:ext cx="1991040" cy="2330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4693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A479802-021E-02D1-FCE6-2284A16EA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388" y="623888"/>
            <a:ext cx="9209354" cy="128111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FieldValidatorAPI</a:t>
            </a:r>
            <a:r>
              <a:rPr lang="en-US" dirty="0"/>
              <a:t> –</a:t>
            </a:r>
            <a:br>
              <a:rPr lang="en-US" dirty="0"/>
            </a:br>
            <a:r>
              <a:rPr lang="en-US" dirty="0" err="1"/>
              <a:t>CommonRegularExpressionValidationPatterns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888162-382B-9B42-3B26-E1057F5FA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402" y="2371992"/>
            <a:ext cx="5934075" cy="1943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0E6B46-8E58-4C28-623A-F40451DE4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421" y="1732704"/>
            <a:ext cx="10670014" cy="3445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786D2E-E2EF-FBD8-796E-5FEC0F6F1C11}"/>
              </a:ext>
            </a:extLst>
          </p:cNvPr>
          <p:cNvSpPr txBox="1"/>
          <p:nvPr/>
        </p:nvSpPr>
        <p:spPr>
          <a:xfrm>
            <a:off x="2744402" y="4609789"/>
            <a:ext cx="43059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-? Means allow zero or one hyphens</a:t>
            </a:r>
          </a:p>
          <a:p>
            <a:r>
              <a:rPr lang="en-US" dirty="0"/>
              <a:t>-* Means allow zero or more hyphens</a:t>
            </a:r>
          </a:p>
        </p:txBody>
      </p:sp>
    </p:spTree>
    <p:extLst>
      <p:ext uri="{BB962C8B-B14F-4D97-AF65-F5344CB8AC3E}">
        <p14:creationId xmlns:p14="http://schemas.microsoft.com/office/powerpoint/2010/main" val="1949856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A479802-021E-02D1-FCE6-2284A16EA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388" y="623888"/>
            <a:ext cx="9209354" cy="128111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FieldValidatorAPI</a:t>
            </a:r>
            <a:r>
              <a:rPr lang="en-US" dirty="0"/>
              <a:t> –</a:t>
            </a:r>
            <a:br>
              <a:rPr lang="en-US" dirty="0"/>
            </a:br>
            <a:r>
              <a:rPr lang="en-US" dirty="0" err="1"/>
              <a:t>CommonRegularExpressionValidationPatterns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BCC662-9B25-8368-4D93-CEF1DB2B5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364" y="1810996"/>
            <a:ext cx="8299371" cy="3938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1DC7FC-6ABB-C2F1-ED0F-B753EB893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926" y="2483843"/>
            <a:ext cx="4086225" cy="8477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65FC97-50FC-498D-737B-97239A641D17}"/>
              </a:ext>
            </a:extLst>
          </p:cNvPr>
          <p:cNvSpPr txBox="1"/>
          <p:nvPr/>
        </p:nvSpPr>
        <p:spPr>
          <a:xfrm>
            <a:off x="2215364" y="3391923"/>
            <a:ext cx="95846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Without ^ and $ , </a:t>
            </a:r>
          </a:p>
          <a:p>
            <a:r>
              <a:rPr lang="en-US" dirty="0"/>
              <a:t>user can enter more than 5 digits or as long as there were 5 digits match in between</a:t>
            </a:r>
          </a:p>
          <a:p>
            <a:endParaRPr lang="en-US" dirty="0"/>
          </a:p>
          <a:p>
            <a:r>
              <a:rPr lang="en-US" dirty="0"/>
              <a:t>^ and $ are known as Anchors</a:t>
            </a:r>
          </a:p>
        </p:txBody>
      </p:sp>
    </p:spTree>
    <p:extLst>
      <p:ext uri="{BB962C8B-B14F-4D97-AF65-F5344CB8AC3E}">
        <p14:creationId xmlns:p14="http://schemas.microsoft.com/office/powerpoint/2010/main" val="3076793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A479802-021E-02D1-FCE6-2284A16EA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388" y="623888"/>
            <a:ext cx="9209354" cy="128111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FieldValidatorAPI</a:t>
            </a:r>
            <a:r>
              <a:rPr lang="en-US" dirty="0"/>
              <a:t> –</a:t>
            </a:r>
            <a:br>
              <a:rPr lang="en-US" dirty="0"/>
            </a:br>
            <a:r>
              <a:rPr lang="en-US" dirty="0" err="1"/>
              <a:t>CommonRegularExpressionValidationPatterns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ECDD73-E201-6727-E5DC-8A911308D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1638300"/>
            <a:ext cx="12058650" cy="266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6FF8F9-8B80-4A23-C9B0-7A9F57292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" y="2178777"/>
            <a:ext cx="6153150" cy="34575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4F1E57-74E2-6FA3-BE41-6232CD7077AF}"/>
              </a:ext>
            </a:extLst>
          </p:cNvPr>
          <p:cNvSpPr txBox="1"/>
          <p:nvPr/>
        </p:nvSpPr>
        <p:spPr>
          <a:xfrm>
            <a:off x="6752379" y="2273081"/>
            <a:ext cx="5521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?= is the Lookahead syntax.</a:t>
            </a:r>
          </a:p>
          <a:p>
            <a:r>
              <a:rPr lang="en-US" dirty="0"/>
              <a:t>.* means any character appear 0 or more times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9D7986-F11C-2FFB-2296-DF4C040F0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6668" y="3255101"/>
            <a:ext cx="4181475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9920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F4352-ED10-6B1E-7C0D-014269F21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MY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A0A3F20-A3A8-D433-7527-4C3803CFA492}"/>
              </a:ext>
            </a:extLst>
          </p:cNvPr>
          <p:cNvSpPr/>
          <p:nvPr/>
        </p:nvSpPr>
        <p:spPr>
          <a:xfrm>
            <a:off x="2720443" y="2321766"/>
            <a:ext cx="1539551" cy="5038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MainView</a:t>
            </a:r>
            <a:endParaRPr lang="en-MY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4C73A43-5C3E-C7BF-C927-13548E394345}"/>
              </a:ext>
            </a:extLst>
          </p:cNvPr>
          <p:cNvSpPr/>
          <p:nvPr/>
        </p:nvSpPr>
        <p:spPr>
          <a:xfrm>
            <a:off x="8157498" y="2321766"/>
            <a:ext cx="3001348" cy="5038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UserRegistrationView</a:t>
            </a:r>
            <a:endParaRPr lang="en-MY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78A1BEE-32CF-6ABB-361D-93A0C348A7F4}"/>
              </a:ext>
            </a:extLst>
          </p:cNvPr>
          <p:cNvSpPr/>
          <p:nvPr/>
        </p:nvSpPr>
        <p:spPr>
          <a:xfrm>
            <a:off x="4873180" y="4152119"/>
            <a:ext cx="2102499" cy="5038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UserLoginView</a:t>
            </a:r>
            <a:endParaRPr lang="en-MY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15E93E2-6FDB-CAE1-E09F-190B0564D56B}"/>
              </a:ext>
            </a:extLst>
          </p:cNvPr>
          <p:cNvSpPr/>
          <p:nvPr/>
        </p:nvSpPr>
        <p:spPr>
          <a:xfrm>
            <a:off x="7603133" y="5592139"/>
            <a:ext cx="2354427" cy="5038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WelcomeUserView</a:t>
            </a:r>
            <a:endParaRPr lang="en-MY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8A185D5-90DF-7047-C40E-695B5DDB1DCC}"/>
              </a:ext>
            </a:extLst>
          </p:cNvPr>
          <p:cNvSpPr/>
          <p:nvPr/>
        </p:nvSpPr>
        <p:spPr>
          <a:xfrm>
            <a:off x="640793" y="2321766"/>
            <a:ext cx="1539551" cy="5038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Factory</a:t>
            </a:r>
            <a:endParaRPr lang="en-MY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59335E0-B40E-A224-EB99-0F4832562BD4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2180344" y="2573693"/>
            <a:ext cx="5400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7C5A44-F5AC-B16D-C90A-5186DFDE5D77}"/>
              </a:ext>
            </a:extLst>
          </p:cNvPr>
          <p:cNvCxnSpPr>
            <a:cxnSpLocks/>
            <a:stCxn id="4" idx="3"/>
            <a:endCxn id="28" idx="1"/>
          </p:cNvCxnSpPr>
          <p:nvPr/>
        </p:nvCxnSpPr>
        <p:spPr>
          <a:xfrm flipV="1">
            <a:off x="4259994" y="2573692"/>
            <a:ext cx="54009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owchart: Decision 27">
            <a:extLst>
              <a:ext uri="{FF2B5EF4-FFF2-40B4-BE49-F238E27FC236}">
                <a16:creationId xmlns:a16="http://schemas.microsoft.com/office/drawing/2014/main" id="{FF7C4856-E698-1718-EA58-85833E16E5FA}"/>
              </a:ext>
            </a:extLst>
          </p:cNvPr>
          <p:cNvSpPr/>
          <p:nvPr/>
        </p:nvSpPr>
        <p:spPr>
          <a:xfrm>
            <a:off x="4800093" y="1663957"/>
            <a:ext cx="2248675" cy="1819470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 or Login?</a:t>
            </a:r>
            <a:endParaRPr lang="en-MY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D4C0A36-E0CB-FDC5-F585-32368F540A05}"/>
              </a:ext>
            </a:extLst>
          </p:cNvPr>
          <p:cNvCxnSpPr>
            <a:cxnSpLocks/>
            <a:stCxn id="28" idx="3"/>
            <a:endCxn id="5" idx="1"/>
          </p:cNvCxnSpPr>
          <p:nvPr/>
        </p:nvCxnSpPr>
        <p:spPr>
          <a:xfrm>
            <a:off x="7048768" y="2573692"/>
            <a:ext cx="110873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Decision 36">
            <a:extLst>
              <a:ext uri="{FF2B5EF4-FFF2-40B4-BE49-F238E27FC236}">
                <a16:creationId xmlns:a16="http://schemas.microsoft.com/office/drawing/2014/main" id="{B411D774-222B-3DF1-A6D0-AE6F12D6EADA}"/>
              </a:ext>
            </a:extLst>
          </p:cNvPr>
          <p:cNvSpPr/>
          <p:nvPr/>
        </p:nvSpPr>
        <p:spPr>
          <a:xfrm>
            <a:off x="4836635" y="5061854"/>
            <a:ext cx="2175588" cy="156442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Success login?</a:t>
            </a:r>
            <a:endParaRPr lang="en-MY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3D68BA8-6E9F-26DB-5BE5-AAD8082069FE}"/>
              </a:ext>
            </a:extLst>
          </p:cNvPr>
          <p:cNvCxnSpPr>
            <a:cxnSpLocks/>
            <a:stCxn id="28" idx="2"/>
            <a:endCxn id="6" idx="0"/>
          </p:cNvCxnSpPr>
          <p:nvPr/>
        </p:nvCxnSpPr>
        <p:spPr>
          <a:xfrm flipH="1">
            <a:off x="5924430" y="3483427"/>
            <a:ext cx="1" cy="668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A9E110A-7575-9F3F-1CF9-9E2218C0C877}"/>
              </a:ext>
            </a:extLst>
          </p:cNvPr>
          <p:cNvCxnSpPr>
            <a:cxnSpLocks/>
            <a:stCxn id="6" idx="2"/>
            <a:endCxn id="37" idx="0"/>
          </p:cNvCxnSpPr>
          <p:nvPr/>
        </p:nvCxnSpPr>
        <p:spPr>
          <a:xfrm flipH="1">
            <a:off x="5924429" y="4655972"/>
            <a:ext cx="1" cy="405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FC52AE2-7C21-1466-CB3C-00DB299FCE8E}"/>
              </a:ext>
            </a:extLst>
          </p:cNvPr>
          <p:cNvCxnSpPr>
            <a:cxnSpLocks/>
            <a:stCxn id="37" idx="3"/>
            <a:endCxn id="7" idx="1"/>
          </p:cNvCxnSpPr>
          <p:nvPr/>
        </p:nvCxnSpPr>
        <p:spPr>
          <a:xfrm flipV="1">
            <a:off x="7012223" y="5844066"/>
            <a:ext cx="59091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3CF181F-BA38-907A-4288-9BD1752D4779}"/>
              </a:ext>
            </a:extLst>
          </p:cNvPr>
          <p:cNvSpPr/>
          <p:nvPr/>
        </p:nvSpPr>
        <p:spPr>
          <a:xfrm>
            <a:off x="1662643" y="5592138"/>
            <a:ext cx="2354427" cy="5038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Display error message</a:t>
            </a:r>
            <a:endParaRPr lang="en-MY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7D2F80F-921B-0B1D-7F54-B53B65F66D77}"/>
              </a:ext>
            </a:extLst>
          </p:cNvPr>
          <p:cNvCxnSpPr>
            <a:cxnSpLocks/>
            <a:stCxn id="37" idx="1"/>
            <a:endCxn id="49" idx="3"/>
          </p:cNvCxnSpPr>
          <p:nvPr/>
        </p:nvCxnSpPr>
        <p:spPr>
          <a:xfrm flipH="1" flipV="1">
            <a:off x="4017070" y="5844065"/>
            <a:ext cx="819565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0877AB64-7513-5EE3-4B31-8472E06D628C}"/>
              </a:ext>
            </a:extLst>
          </p:cNvPr>
          <p:cNvSpPr txBox="1"/>
          <p:nvPr/>
        </p:nvSpPr>
        <p:spPr>
          <a:xfrm>
            <a:off x="7007261" y="2204360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8035ED-9C33-8CCD-AFFC-74155B9C395F}"/>
              </a:ext>
            </a:extLst>
          </p:cNvPr>
          <p:cNvSpPr txBox="1"/>
          <p:nvPr/>
        </p:nvSpPr>
        <p:spPr>
          <a:xfrm>
            <a:off x="5942546" y="3561571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Login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9DB0547-21D8-B1A6-D101-E7BD38F629A9}"/>
              </a:ext>
            </a:extLst>
          </p:cNvPr>
          <p:cNvSpPr txBox="1"/>
          <p:nvPr/>
        </p:nvSpPr>
        <p:spPr>
          <a:xfrm>
            <a:off x="7923476" y="3828953"/>
            <a:ext cx="3581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All the views will implement </a:t>
            </a:r>
            <a:r>
              <a:rPr lang="en-US" altLang="zh-CN" dirty="0" err="1"/>
              <a:t>IView</a:t>
            </a:r>
            <a:r>
              <a:rPr lang="en-US" altLang="zh-CN" dirty="0"/>
              <a:t> interface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173364C-ED2E-A172-F4DE-F4246BA5A9BA}"/>
              </a:ext>
            </a:extLst>
          </p:cNvPr>
          <p:cNvSpPr txBox="1"/>
          <p:nvPr/>
        </p:nvSpPr>
        <p:spPr>
          <a:xfrm>
            <a:off x="4133984" y="5474732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6C26CE8-FE75-636E-C912-E49B877C44C3}"/>
              </a:ext>
            </a:extLst>
          </p:cNvPr>
          <p:cNvSpPr txBox="1"/>
          <p:nvPr/>
        </p:nvSpPr>
        <p:spPr>
          <a:xfrm>
            <a:off x="7128079" y="5627132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3981095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E9B6C-99A5-5AE0-0659-52BA153ED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IView</a:t>
            </a:r>
            <a:r>
              <a:rPr lang="en-US" dirty="0"/>
              <a:t> interface</a:t>
            </a:r>
            <a:endParaRPr lang="en-MY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A29FAD-13AE-0451-9990-815ABF8F50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1905000"/>
            <a:ext cx="3927165" cy="915067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9A51F2AF-35A5-D33F-26B5-A7B9C4BE9783}"/>
              </a:ext>
            </a:extLst>
          </p:cNvPr>
          <p:cNvSpPr/>
          <p:nvPr/>
        </p:nvSpPr>
        <p:spPr>
          <a:xfrm>
            <a:off x="6778664" y="3429000"/>
            <a:ext cx="4110160" cy="825759"/>
          </a:xfrm>
          <a:prstGeom prst="wedgeRoundRectCallout">
            <a:avLst>
              <a:gd name="adj1" fmla="val -75742"/>
              <a:gd name="adj2" fmla="val -12547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Provide 1 method and 1 interface. Both only got definition without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133077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2658C-627B-9CD3-4FF1-8F1C4B30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MainView</a:t>
            </a:r>
            <a:endParaRPr lang="en-MY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EED16D-D5F1-3B1A-B59F-72096B0C23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3650" y="1683583"/>
            <a:ext cx="3939881" cy="815411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72FFDD7E-2A45-EF12-84C6-8ED740A364C8}"/>
              </a:ext>
            </a:extLst>
          </p:cNvPr>
          <p:cNvSpPr/>
          <p:nvPr/>
        </p:nvSpPr>
        <p:spPr>
          <a:xfrm>
            <a:off x="7263856" y="1270703"/>
            <a:ext cx="2981156" cy="825759"/>
          </a:xfrm>
          <a:prstGeom prst="wedgeRoundRectCallout">
            <a:avLst>
              <a:gd name="adj1" fmla="val -77933"/>
              <a:gd name="adj2" fmla="val 6548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Construct with 2 interfaces of </a:t>
            </a:r>
            <a:r>
              <a:rPr lang="en-US" sz="1600" dirty="0" err="1"/>
              <a:t>IView</a:t>
            </a:r>
            <a:r>
              <a:rPr lang="en-US" sz="1600" dirty="0"/>
              <a:t> type.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AA373D-DF69-456F-FEB4-75F966587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650" y="2884692"/>
            <a:ext cx="5259762" cy="271243"/>
          </a:xfrm>
          <a:prstGeom prst="rect">
            <a:avLst/>
          </a:prstGeom>
        </p:spPr>
      </p:pic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D21642BE-5672-07DB-9E04-9F5C9A4A4F32}"/>
              </a:ext>
            </a:extLst>
          </p:cNvPr>
          <p:cNvSpPr/>
          <p:nvPr/>
        </p:nvSpPr>
        <p:spPr>
          <a:xfrm>
            <a:off x="8754434" y="2640748"/>
            <a:ext cx="2981156" cy="825759"/>
          </a:xfrm>
          <a:prstGeom prst="wedgeRoundRectCallout">
            <a:avLst>
              <a:gd name="adj1" fmla="val -75742"/>
              <a:gd name="adj2" fmla="val -683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Return as null as no validation required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E923FF-DA6D-AA48-2616-454BFDA9B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7166" y="3429000"/>
            <a:ext cx="6027268" cy="3327982"/>
          </a:xfrm>
          <a:prstGeom prst="rect">
            <a:avLst/>
          </a:prstGeom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6B936B2D-5017-893E-8F51-5211C87AE052}"/>
              </a:ext>
            </a:extLst>
          </p:cNvPr>
          <p:cNvSpPr/>
          <p:nvPr/>
        </p:nvSpPr>
        <p:spPr>
          <a:xfrm>
            <a:off x="8832190" y="4577627"/>
            <a:ext cx="2981156" cy="825759"/>
          </a:xfrm>
          <a:prstGeom prst="wedgeRoundRectCallout">
            <a:avLst>
              <a:gd name="adj1" fmla="val -63223"/>
              <a:gd name="adj2" fmla="val -5880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Write the </a:t>
            </a:r>
            <a:r>
              <a:rPr lang="en-US" sz="1600" dirty="0" err="1"/>
              <a:t>RunView</a:t>
            </a:r>
            <a:r>
              <a:rPr lang="en-US" sz="1600" dirty="0"/>
              <a:t>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187333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BCA94-EC59-97C5-23BD-49D79CFF8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UserLoginView</a:t>
            </a:r>
            <a:endParaRPr lang="en-MY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B0B087-FD57-F610-7BE2-C0B94698EE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5402" y="1480262"/>
            <a:ext cx="2339543" cy="6248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47DB4A-D149-C23A-710D-A06B750FF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402" y="2209911"/>
            <a:ext cx="5259762" cy="2712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7391E9-3D21-D5F9-37F6-42E76784C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402" y="2651879"/>
            <a:ext cx="6287045" cy="4000847"/>
          </a:xfrm>
          <a:prstGeom prst="rect">
            <a:avLst/>
          </a:prstGeom>
        </p:spPr>
      </p:pic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7012D080-6A2B-C632-CCCF-3540B65D72E0}"/>
              </a:ext>
            </a:extLst>
          </p:cNvPr>
          <p:cNvSpPr/>
          <p:nvPr/>
        </p:nvSpPr>
        <p:spPr>
          <a:xfrm>
            <a:off x="6060997" y="978528"/>
            <a:ext cx="2981156" cy="825759"/>
          </a:xfrm>
          <a:prstGeom prst="wedgeRoundRectCallout">
            <a:avLst>
              <a:gd name="adj1" fmla="val -87010"/>
              <a:gd name="adj2" fmla="val 4401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Construct with 1 interfaces of </a:t>
            </a:r>
            <a:r>
              <a:rPr lang="en-US" sz="1600" dirty="0" err="1"/>
              <a:t>ILogin</a:t>
            </a:r>
            <a:r>
              <a:rPr lang="en-US" sz="1600" dirty="0"/>
              <a:t> type.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85A607F7-F174-DC72-2214-EBF032C75487}"/>
              </a:ext>
            </a:extLst>
          </p:cNvPr>
          <p:cNvSpPr/>
          <p:nvPr/>
        </p:nvSpPr>
        <p:spPr>
          <a:xfrm>
            <a:off x="8745103" y="1826120"/>
            <a:ext cx="2981156" cy="825759"/>
          </a:xfrm>
          <a:prstGeom prst="wedgeRoundRectCallout">
            <a:avLst>
              <a:gd name="adj1" fmla="val -76994"/>
              <a:gd name="adj2" fmla="val 1011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Return as null as no validation required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B742C315-3DBB-C0D9-6E0F-6A73FA7CBF5D}"/>
              </a:ext>
            </a:extLst>
          </p:cNvPr>
          <p:cNvSpPr/>
          <p:nvPr/>
        </p:nvSpPr>
        <p:spPr>
          <a:xfrm>
            <a:off x="9042153" y="3961807"/>
            <a:ext cx="2981156" cy="825759"/>
          </a:xfrm>
          <a:prstGeom prst="wedgeRoundRectCallout">
            <a:avLst>
              <a:gd name="adj1" fmla="val -63223"/>
              <a:gd name="adj2" fmla="val -5880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Write the </a:t>
            </a:r>
            <a:r>
              <a:rPr lang="en-US" sz="1600" dirty="0" err="1"/>
              <a:t>RunView</a:t>
            </a:r>
            <a:r>
              <a:rPr lang="en-US" sz="1600" dirty="0"/>
              <a:t>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2535267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9FB9C-0B9E-01D8-B5F0-546C5EA12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6C6D-5D71-0E00-D6C8-DBF8A6747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UserRegistrationView</a:t>
            </a:r>
            <a:endParaRPr lang="en-MY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E6C555-B16A-7827-EBCC-F27C8E5864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1264555"/>
            <a:ext cx="5303980" cy="746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DC0368-5F05-1F92-B00C-4AF4B2A32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925" y="2295357"/>
            <a:ext cx="6441882" cy="356467"/>
          </a:xfrm>
          <a:prstGeom prst="rect">
            <a:avLst/>
          </a:prstGeom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ED4DA561-2BED-FA55-C8C8-A411D56A2F88}"/>
              </a:ext>
            </a:extLst>
          </p:cNvPr>
          <p:cNvSpPr/>
          <p:nvPr/>
        </p:nvSpPr>
        <p:spPr>
          <a:xfrm>
            <a:off x="8516445" y="805182"/>
            <a:ext cx="2981156" cy="825759"/>
          </a:xfrm>
          <a:prstGeom prst="wedgeRoundRectCallout">
            <a:avLst>
              <a:gd name="adj1" fmla="val -87010"/>
              <a:gd name="adj2" fmla="val 4401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Construct with 2 interfaces, </a:t>
            </a:r>
            <a:r>
              <a:rPr lang="en-US" sz="1600" dirty="0" err="1"/>
              <a:t>IRegister</a:t>
            </a:r>
            <a:r>
              <a:rPr lang="en-US" sz="1600" dirty="0"/>
              <a:t> and </a:t>
            </a:r>
            <a:r>
              <a:rPr lang="en-US" sz="1600" dirty="0" err="1"/>
              <a:t>IFieldValidator</a:t>
            </a:r>
            <a:r>
              <a:rPr lang="en-US" sz="1600" dirty="0"/>
              <a:t>.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4191D79A-2FD7-C1FA-DF1F-F355596D68FC}"/>
              </a:ext>
            </a:extLst>
          </p:cNvPr>
          <p:cNvSpPr/>
          <p:nvPr/>
        </p:nvSpPr>
        <p:spPr>
          <a:xfrm>
            <a:off x="9351593" y="2295358"/>
            <a:ext cx="1807820" cy="643786"/>
          </a:xfrm>
          <a:prstGeom prst="wedgeRoundRectCallout">
            <a:avLst>
              <a:gd name="adj1" fmla="val -61032"/>
              <a:gd name="adj2" fmla="val -2717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Return </a:t>
            </a:r>
            <a:r>
              <a:rPr lang="en-US" sz="1600" dirty="0" err="1"/>
              <a:t>FieldValidator</a:t>
            </a:r>
            <a:endParaRPr lang="en-US" sz="16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AACF0E-921F-56EF-856F-E3775599BB32}"/>
              </a:ext>
            </a:extLst>
          </p:cNvPr>
          <p:cNvSpPr/>
          <p:nvPr/>
        </p:nvSpPr>
        <p:spPr>
          <a:xfrm>
            <a:off x="1236876" y="3456472"/>
            <a:ext cx="2103483" cy="5038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RunView</a:t>
            </a:r>
            <a:r>
              <a:rPr lang="en-US" dirty="0"/>
              <a:t> show the question</a:t>
            </a:r>
            <a:endParaRPr lang="en-MY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6D3DB4-2716-85B2-F2E8-2025B84B4917}"/>
              </a:ext>
            </a:extLst>
          </p:cNvPr>
          <p:cNvSpPr/>
          <p:nvPr/>
        </p:nvSpPr>
        <p:spPr>
          <a:xfrm>
            <a:off x="693977" y="4342768"/>
            <a:ext cx="2646382" cy="5038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GetInputFromUser</a:t>
            </a:r>
            <a:r>
              <a:rPr lang="en-US" dirty="0"/>
              <a:t> and trigger validation</a:t>
            </a:r>
            <a:endParaRPr lang="en-MY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969B40D-320E-720A-C76B-02911AF8168D}"/>
              </a:ext>
            </a:extLst>
          </p:cNvPr>
          <p:cNvSpPr/>
          <p:nvPr/>
        </p:nvSpPr>
        <p:spPr>
          <a:xfrm>
            <a:off x="693977" y="5259870"/>
            <a:ext cx="2646382" cy="5038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RegisterUser</a:t>
            </a:r>
            <a:r>
              <a:rPr lang="en-US" dirty="0"/>
              <a:t> store user data into </a:t>
            </a:r>
            <a:r>
              <a:rPr lang="en-US" dirty="0" err="1"/>
              <a:t>db</a:t>
            </a:r>
            <a:endParaRPr lang="en-MY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F82C9CF-65B0-CF18-B94F-FA393C0C6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035" y="3415002"/>
            <a:ext cx="5448772" cy="586791"/>
          </a:xfrm>
          <a:prstGeom prst="rect">
            <a:avLst/>
          </a:prstGeom>
        </p:spPr>
      </p:pic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2E74BD7C-0131-9479-4BBF-FC6DE1DF502D}"/>
              </a:ext>
            </a:extLst>
          </p:cNvPr>
          <p:cNvSpPr/>
          <p:nvPr/>
        </p:nvSpPr>
        <p:spPr>
          <a:xfrm>
            <a:off x="9280484" y="3511474"/>
            <a:ext cx="1807820" cy="643786"/>
          </a:xfrm>
          <a:prstGeom prst="wedgeRoundRectCallout">
            <a:avLst>
              <a:gd name="adj1" fmla="val -64129"/>
              <a:gd name="adj2" fmla="val -4456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Store the user input if correct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834AF24-AF0A-763A-6AF3-07D20D6E32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6035" y="4137454"/>
            <a:ext cx="2491956" cy="914479"/>
          </a:xfrm>
          <a:prstGeom prst="rect">
            <a:avLst/>
          </a:prstGeom>
        </p:spPr>
      </p:pic>
      <p:sp>
        <p:nvSpPr>
          <p:cNvPr id="18" name="Speech Bubble: Rectangle with Corners Rounded 17">
            <a:extLst>
              <a:ext uri="{FF2B5EF4-FFF2-40B4-BE49-F238E27FC236}">
                <a16:creationId xmlns:a16="http://schemas.microsoft.com/office/drawing/2014/main" id="{5F9B5FE5-078B-EFF6-FECC-DC31207631C9}"/>
              </a:ext>
            </a:extLst>
          </p:cNvPr>
          <p:cNvSpPr/>
          <p:nvPr/>
        </p:nvSpPr>
        <p:spPr>
          <a:xfrm>
            <a:off x="6310421" y="4408147"/>
            <a:ext cx="1807820" cy="643786"/>
          </a:xfrm>
          <a:prstGeom prst="wedgeRoundRectCallout">
            <a:avLst>
              <a:gd name="adj1" fmla="val -64129"/>
              <a:gd name="adj2" fmla="val -4456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Repeat if user input incorrect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AFCF3AD-D207-9A19-CED7-87B19D973C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6035" y="5408917"/>
            <a:ext cx="3139712" cy="205758"/>
          </a:xfrm>
          <a:prstGeom prst="rect">
            <a:avLst/>
          </a:prstGeom>
        </p:spPr>
      </p:pic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9912541F-4A5C-D4D3-60B5-CA40EC75A754}"/>
              </a:ext>
            </a:extLst>
          </p:cNvPr>
          <p:cNvSpPr/>
          <p:nvPr/>
        </p:nvSpPr>
        <p:spPr>
          <a:xfrm>
            <a:off x="6992995" y="5458287"/>
            <a:ext cx="1807820" cy="643786"/>
          </a:xfrm>
          <a:prstGeom prst="wedgeRoundRectCallout">
            <a:avLst>
              <a:gd name="adj1" fmla="val -64129"/>
              <a:gd name="adj2" fmla="val -4456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Register the user</a:t>
            </a:r>
          </a:p>
        </p:txBody>
      </p:sp>
    </p:spTree>
    <p:extLst>
      <p:ext uri="{BB962C8B-B14F-4D97-AF65-F5344CB8AC3E}">
        <p14:creationId xmlns:p14="http://schemas.microsoft.com/office/powerpoint/2010/main" val="573844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44240-53B3-1129-D004-41AC31371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1A1F2-D60F-B6E0-4D39-8BC88B357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Factory</a:t>
            </a:r>
            <a:endParaRPr lang="en-MY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1E6EFD-5716-C2C9-AFB3-1A257C9B66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5338" y="1469182"/>
            <a:ext cx="5624047" cy="1524132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71A24360-0A54-A370-9B41-9A2ACF5B0AF9}"/>
              </a:ext>
            </a:extLst>
          </p:cNvPr>
          <p:cNvSpPr/>
          <p:nvPr/>
        </p:nvSpPr>
        <p:spPr>
          <a:xfrm>
            <a:off x="8104178" y="2785214"/>
            <a:ext cx="1807820" cy="643786"/>
          </a:xfrm>
          <a:prstGeom prst="wedgeRoundRectCallout">
            <a:avLst>
              <a:gd name="adj1" fmla="val -64129"/>
              <a:gd name="adj2" fmla="val -4456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Instantiate the main view</a:t>
            </a:r>
          </a:p>
        </p:txBody>
      </p:sp>
    </p:spTree>
    <p:extLst>
      <p:ext uri="{BB962C8B-B14F-4D97-AF65-F5344CB8AC3E}">
        <p14:creationId xmlns:p14="http://schemas.microsoft.com/office/powerpoint/2010/main" val="317119111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600</Words>
  <Application>Microsoft Office PowerPoint</Application>
  <PresentationFormat>Widescreen</PresentationFormat>
  <Paragraphs>156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Century Gothic</vt:lpstr>
      <vt:lpstr>Wingdings 3</vt:lpstr>
      <vt:lpstr>Wisp</vt:lpstr>
      <vt:lpstr>Cycling Club Registration App</vt:lpstr>
      <vt:lpstr>Objective</vt:lpstr>
      <vt:lpstr>Overview</vt:lpstr>
      <vt:lpstr>How to run this project</vt:lpstr>
      <vt:lpstr>Models – User class</vt:lpstr>
      <vt:lpstr>Installing NuGet Package</vt:lpstr>
      <vt:lpstr>Validate the Package</vt:lpstr>
      <vt:lpstr>DbContext – create the connection to database</vt:lpstr>
      <vt:lpstr>Installing NuGet Package for DB Migration</vt:lpstr>
      <vt:lpstr>Migration – version control for Db schema</vt:lpstr>
      <vt:lpstr>Check the Database</vt:lpstr>
      <vt:lpstr>LoginUser implement ILogin</vt:lpstr>
      <vt:lpstr>RegisterUser implement IRegister</vt:lpstr>
      <vt:lpstr>FieldValidatorAPI – CommonFiledValidatorFunctions</vt:lpstr>
      <vt:lpstr>FieldValidatorAPI – CommonFiledValidatorFunctions</vt:lpstr>
      <vt:lpstr>FieldValidatorAPI – CommonFiledValidatorFunctions</vt:lpstr>
      <vt:lpstr>FieldValidatorAPI – CommonRegularExpressionValidationPatterns</vt:lpstr>
      <vt:lpstr>FieldValidatorAPI – CommonRegularExpressionValidationPatterns</vt:lpstr>
      <vt:lpstr>FieldValidatorAPI – CommonRegularExpressionValidationPatterns</vt:lpstr>
      <vt:lpstr>FieldValidatorAPI – CommonRegularExpressionValidationPatterns</vt:lpstr>
      <vt:lpstr>FieldValidatorAPI – CommonRegularExpressionValidationPatterns</vt:lpstr>
      <vt:lpstr>Overview</vt:lpstr>
      <vt:lpstr>IView interface</vt:lpstr>
      <vt:lpstr>MainView</vt:lpstr>
      <vt:lpstr>UserLoginView</vt:lpstr>
      <vt:lpstr>UserRegistrationView</vt:lpstr>
      <vt:lpstr>Factory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leng keong gan</dc:creator>
  <cp:lastModifiedBy>Gan, Leng Keong</cp:lastModifiedBy>
  <cp:revision>9</cp:revision>
  <dcterms:created xsi:type="dcterms:W3CDTF">2026-03-12T03:43:38Z</dcterms:created>
  <dcterms:modified xsi:type="dcterms:W3CDTF">2026-03-30T08:09:04Z</dcterms:modified>
</cp:coreProperties>
</file>